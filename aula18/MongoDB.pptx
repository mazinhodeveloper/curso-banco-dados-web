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82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45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0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803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37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27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69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77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7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6/13/2026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4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BF1B0-8F99-A861-8600-42A59D7A6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5736" y="640081"/>
            <a:ext cx="5916145" cy="3812102"/>
          </a:xfrm>
        </p:spPr>
        <p:txBody>
          <a:bodyPr anchor="b">
            <a:normAutofit/>
          </a:bodyPr>
          <a:lstStyle/>
          <a:p>
            <a:pPr algn="l"/>
            <a:r>
              <a:rPr lang="pt-BR" dirty="0" err="1">
                <a:solidFill>
                  <a:schemeClr val="bg1"/>
                </a:solidFill>
              </a:rPr>
              <a:t>MongoDB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DE91DA-CAAC-B779-CACA-C32BB35FF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5735" y="4646030"/>
            <a:ext cx="5916145" cy="1344868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Bancos de dados </a:t>
            </a:r>
            <a:r>
              <a:rPr lang="pt-BR" dirty="0" err="1"/>
              <a:t>NoSQL</a:t>
            </a:r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6DE47-7BA7-80FC-AEC1-7856119E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87" r="27044" b="-1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7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E71EA-9C9C-D922-7A23-417634B3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Nosql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DAC0E8-574F-4E90-715C-A91E7029A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NoSQL</a:t>
            </a:r>
            <a:r>
              <a:rPr lang="pt-BR" dirty="0"/>
              <a:t> (banco de dados não relacional) é usado para armazenar e processar grandes volumes de dados não estruturados ou semiestruturados. Ele se destaca pela </a:t>
            </a:r>
            <a:r>
              <a:rPr lang="pt-BR" b="1" dirty="0"/>
              <a:t>alta escalabilidade</a:t>
            </a:r>
            <a:r>
              <a:rPr lang="pt-BR" dirty="0"/>
              <a:t>, </a:t>
            </a:r>
            <a:r>
              <a:rPr lang="pt-BR" b="1" dirty="0"/>
              <a:t>flexibilidade de esquema</a:t>
            </a:r>
            <a:r>
              <a:rPr lang="pt-BR" dirty="0"/>
              <a:t> e </a:t>
            </a:r>
            <a:r>
              <a:rPr lang="pt-BR" b="1" dirty="0"/>
              <a:t>velocidade</a:t>
            </a:r>
            <a:r>
              <a:rPr lang="pt-BR" dirty="0"/>
              <a:t>, sendo ideal para aplicações modernas de internet, redes sociais, streaming e </a:t>
            </a:r>
            <a:r>
              <a:rPr lang="pt-BR" i="1" dirty="0"/>
              <a:t>Big Data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62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54865-0417-4422-B63B-3E74C04CD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64432"/>
            <a:ext cx="6255757" cy="20608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A7C5F7-313B-A114-FC5D-BED1DEF4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90599"/>
            <a:ext cx="4857751" cy="1563989"/>
          </a:xfrm>
        </p:spPr>
        <p:txBody>
          <a:bodyPr>
            <a:normAutofit/>
          </a:bodyPr>
          <a:lstStyle/>
          <a:p>
            <a:r>
              <a:rPr lang="pt-BR" dirty="0" err="1"/>
              <a:t>MongoDB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611993-07E3-295F-05AF-63DA6882B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3071909"/>
            <a:ext cx="4924426" cy="2795492"/>
          </a:xfrm>
        </p:spPr>
        <p:txBody>
          <a:bodyPr>
            <a:normAutofit/>
          </a:bodyPr>
          <a:lstStyle/>
          <a:p>
            <a:pPr>
              <a:lnSpc>
                <a:spcPct val="91000"/>
              </a:lnSpc>
            </a:pPr>
            <a:r>
              <a:rPr lang="pt-BR" sz="2000"/>
              <a:t>O </a:t>
            </a:r>
            <a:r>
              <a:rPr lang="pt-BR" sz="2000" b="1" err="1"/>
              <a:t>MongoDB</a:t>
            </a:r>
            <a:r>
              <a:rPr lang="pt-BR" sz="2000"/>
              <a:t> é um sistema de banco de dados não relacional (</a:t>
            </a:r>
            <a:r>
              <a:rPr lang="pt-BR" sz="2000" err="1"/>
              <a:t>NoSQL</a:t>
            </a:r>
            <a:r>
              <a:rPr lang="pt-BR" sz="2000"/>
              <a:t>) orientado a documentos. Ele armazena dados em formatos flexíveis semelhantes ao JSON (chamado BSON), permitindo organizar informações complexas e aninhadas de forma rápida e escalável</a:t>
            </a:r>
          </a:p>
        </p:txBody>
      </p:sp>
      <p:pic>
        <p:nvPicPr>
          <p:cNvPr id="4" name="Imagem 3" descr="What is MongoDB? NoSQL database explained in an easy way.">
            <a:extLst>
              <a:ext uri="{FF2B5EF4-FFF2-40B4-BE49-F238E27FC236}">
                <a16:creationId xmlns:a16="http://schemas.microsoft.com/office/drawing/2014/main" id="{10CE2049-D894-0EB9-201D-5CC15346F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387" y="664432"/>
            <a:ext cx="3882215" cy="520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1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F0296-C2EB-E973-E0CD-0336D1CD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Mongodb</a:t>
            </a:r>
            <a:r>
              <a:rPr lang="pt-BR" dirty="0"/>
              <a:t> </a:t>
            </a:r>
            <a:r>
              <a:rPr lang="pt-BR" dirty="0" err="1"/>
              <a:t>comprass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89D325-0A73-5B7D-507F-719C01B16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 err="1"/>
              <a:t>MongoDB</a:t>
            </a:r>
            <a:r>
              <a:rPr lang="pt-BR" b="1" dirty="0"/>
              <a:t> Compass</a:t>
            </a:r>
            <a:r>
              <a:rPr lang="pt-BR" dirty="0"/>
              <a:t> é a interface gráfica oficial (GUI) do </a:t>
            </a:r>
            <a:r>
              <a:rPr lang="pt-BR" dirty="0" err="1"/>
              <a:t>MongoDB</a:t>
            </a:r>
            <a:r>
              <a:rPr lang="pt-BR" dirty="0"/>
              <a:t>. Ele permite explorar, consultar e gerenciar bancos de dados visualmente, sem a necessidade de comandos via terminal. É uma ferramenta gratuita e disponível para </a:t>
            </a:r>
            <a:r>
              <a:rPr lang="pt-BR" dirty="0" err="1"/>
              <a:t>macOS</a:t>
            </a:r>
            <a:r>
              <a:rPr lang="pt-BR" dirty="0"/>
              <a:t>, Windows e Linux. </a:t>
            </a:r>
          </a:p>
        </p:txBody>
      </p:sp>
    </p:spTree>
    <p:extLst>
      <p:ext uri="{BB962C8B-B14F-4D97-AF65-F5344CB8AC3E}">
        <p14:creationId xmlns:p14="http://schemas.microsoft.com/office/powerpoint/2010/main" val="86718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74623-D713-D7CD-C024-DD8DB7F3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x </a:t>
            </a:r>
            <a:r>
              <a:rPr lang="pt-BR" dirty="0" err="1"/>
              <a:t>nosql</a:t>
            </a:r>
            <a:endParaRPr lang="pt-BR" dirty="0"/>
          </a:p>
        </p:txBody>
      </p:sp>
      <p:pic>
        <p:nvPicPr>
          <p:cNvPr id="4" name="Espaço Reservado para Conteúdo 3" descr="MongoDB Tutorial - GeeksforGeeks">
            <a:extLst>
              <a:ext uri="{FF2B5EF4-FFF2-40B4-BE49-F238E27FC236}">
                <a16:creationId xmlns:a16="http://schemas.microsoft.com/office/drawing/2014/main" id="{FD38F3FA-115A-F4C3-4C19-7174C3B1B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050" y="2416380"/>
            <a:ext cx="8486775" cy="425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9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67C92-E508-2FA7-3BE1-2FF6D3E2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Json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CF0BB-E826-F6CE-9574-0F382337A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JSON (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Notation</a:t>
            </a:r>
            <a:r>
              <a:rPr lang="pt-BR" dirty="0"/>
              <a:t>) é um formato leve e baseado em texto para </a:t>
            </a:r>
            <a:r>
              <a:rPr lang="pt-BR" b="1" dirty="0"/>
              <a:t>armazenamento e intercâmbio de dados</a:t>
            </a:r>
            <a:r>
              <a:rPr lang="pt-BR" dirty="0"/>
              <a:t>. Por ser independente de linguagem e fácil de ler tanto para humanos quanto para máquinas, tornou-se o padrão onipresente na comunicação entre servidores web, aplicativos e APIs. </a:t>
            </a:r>
          </a:p>
        </p:txBody>
      </p:sp>
    </p:spTree>
    <p:extLst>
      <p:ext uri="{BB962C8B-B14F-4D97-AF65-F5344CB8AC3E}">
        <p14:creationId xmlns:p14="http://schemas.microsoft.com/office/powerpoint/2010/main" val="208196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5AFD8-F818-65D8-AC02-378C6E5A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</a:t>
            </a:r>
            <a:r>
              <a:rPr lang="pt-BR" dirty="0" err="1"/>
              <a:t>json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A962C9-6FD0-CA75-873F-11EF188B8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1950" y="2690652"/>
            <a:ext cx="3867150" cy="3593592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1. Objetos</a:t>
            </a:r>
          </a:p>
          <a:p>
            <a:r>
              <a:rPr lang="pt-BR" dirty="0"/>
              <a:t>Representam um conjunto de dados e são delimitados por chaves { }. Eles contêm pares de </a:t>
            </a:r>
            <a:r>
              <a:rPr lang="pt-BR" b="1" dirty="0"/>
              <a:t>"chave"</a:t>
            </a:r>
            <a:r>
              <a:rPr lang="pt-BR" dirty="0"/>
              <a:t> (sempre entre aspas duplas) e </a:t>
            </a:r>
            <a:r>
              <a:rPr lang="pt-BR" b="1" dirty="0"/>
              <a:t>valor</a:t>
            </a:r>
            <a:r>
              <a:rPr lang="pt-BR" dirty="0"/>
              <a:t>, separados por dois pontos :. Diferentes pares são separados por vírgulas.</a:t>
            </a:r>
          </a:p>
          <a:p>
            <a:endParaRPr lang="pt-BR" dirty="0"/>
          </a:p>
        </p:txBody>
      </p:sp>
      <p:pic>
        <p:nvPicPr>
          <p:cNvPr id="8" name="Imagem 7" descr="PostgresSQL JSON types – PET Sistemas de Informação">
            <a:extLst>
              <a:ext uri="{FF2B5EF4-FFF2-40B4-BE49-F238E27FC236}">
                <a16:creationId xmlns:a16="http://schemas.microsoft.com/office/drawing/2014/main" id="{0C75C3F2-BCFE-BBEF-EE0F-1EA68E060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757348"/>
            <a:ext cx="7637072" cy="329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41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2F6DF-1695-CF86-8EE0-202FA0D2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Quem usa </a:t>
            </a:r>
            <a:r>
              <a:rPr lang="pt-BR" dirty="0" err="1"/>
              <a:t>mongodb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9394F1-8BCE-4AFA-A0A9-C0E1B84DD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MongoDB</a:t>
            </a:r>
            <a:r>
              <a:rPr lang="pt-BR" dirty="0"/>
              <a:t> é utilizado por empresas de tecnologia, finanças, telecomunicações e grandes corporações globais para lidar com alta escalabilidade e dados não estruturados. Ele é ideal para aplicações modernas, Internet das Coisas (IoT), Inteligência Artificial e sistemas que exigem elasticidade na nuvem. </a:t>
            </a:r>
          </a:p>
        </p:txBody>
      </p:sp>
    </p:spTree>
    <p:extLst>
      <p:ext uri="{BB962C8B-B14F-4D97-AF65-F5344CB8AC3E}">
        <p14:creationId xmlns:p14="http://schemas.microsoft.com/office/powerpoint/2010/main" val="376288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156FA-2195-8E14-F89D-87EBE238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Quem usa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6AF31F-2B02-8731-0F4B-888F8FE95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6" y="2945130"/>
            <a:ext cx="5863155" cy="360730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47E9FE0-14B2-F258-B6D1-6B7732869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636" y="3143249"/>
            <a:ext cx="5164774" cy="317554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5655B66-10A7-246E-55E3-C435F527590F}"/>
              </a:ext>
            </a:extLst>
          </p:cNvPr>
          <p:cNvSpPr txBox="1"/>
          <p:nvPr/>
        </p:nvSpPr>
        <p:spPr>
          <a:xfrm>
            <a:off x="570946" y="2447544"/>
            <a:ext cx="40576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Mundo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6ED990-4D82-89F2-267E-42ED1F263ED4}"/>
              </a:ext>
            </a:extLst>
          </p:cNvPr>
          <p:cNvSpPr txBox="1"/>
          <p:nvPr/>
        </p:nvSpPr>
        <p:spPr>
          <a:xfrm>
            <a:off x="6586501" y="2447544"/>
            <a:ext cx="40576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Brasil</a:t>
            </a:r>
          </a:p>
        </p:txBody>
      </p:sp>
    </p:spTree>
    <p:extLst>
      <p:ext uri="{BB962C8B-B14F-4D97-AF65-F5344CB8AC3E}">
        <p14:creationId xmlns:p14="http://schemas.microsoft.com/office/powerpoint/2010/main" val="84448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743AF-3BB7-6898-C4EB-C7FE31BE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Relação dos operadores de comparação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EC231CE-A3BB-B292-E6D9-717518A9A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718108"/>
              </p:ext>
            </p:extLst>
          </p:nvPr>
        </p:nvGraphicFramePr>
        <p:xfrm>
          <a:off x="1711960" y="2487168"/>
          <a:ext cx="8128000" cy="34902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1048">
                  <a:extLst>
                    <a:ext uri="{9D8B030D-6E8A-4147-A177-3AD203B41FA5}">
                      <a16:colId xmlns:a16="http://schemas.microsoft.com/office/drawing/2014/main" val="3860673365"/>
                    </a:ext>
                  </a:extLst>
                </a:gridCol>
                <a:gridCol w="6346952">
                  <a:extLst>
                    <a:ext uri="{9D8B030D-6E8A-4147-A177-3AD203B41FA5}">
                      <a16:colId xmlns:a16="http://schemas.microsoft.com/office/drawing/2014/main" val="2612543099"/>
                    </a:ext>
                  </a:extLst>
                </a:gridCol>
              </a:tblGrid>
              <a:tr h="523578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eq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Igual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37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Diferente 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3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gt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Maior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13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gte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Maior ou igual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948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Menor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28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ite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Menor ou 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126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Está na lista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02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nin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 está na lista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5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38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45BB-FE5C-ACE8-8307-0CD5695C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5562F-8519-434A-9E8D-2A0143DD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Relação dos operadores Lógicos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83733F2-4A4F-2495-ABBA-34921AC1E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498440"/>
              </p:ext>
            </p:extLst>
          </p:nvPr>
        </p:nvGraphicFramePr>
        <p:xfrm>
          <a:off x="1711960" y="2487168"/>
          <a:ext cx="8128000" cy="2006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1048">
                  <a:extLst>
                    <a:ext uri="{9D8B030D-6E8A-4147-A177-3AD203B41FA5}">
                      <a16:colId xmlns:a16="http://schemas.microsoft.com/office/drawing/2014/main" val="3860673365"/>
                    </a:ext>
                  </a:extLst>
                </a:gridCol>
                <a:gridCol w="6346952">
                  <a:extLst>
                    <a:ext uri="{9D8B030D-6E8A-4147-A177-3AD203B41FA5}">
                      <a16:colId xmlns:a16="http://schemas.microsoft.com/office/drawing/2014/main" val="2612543099"/>
                    </a:ext>
                  </a:extLst>
                </a:gridCol>
              </a:tblGrid>
              <a:tr h="523578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and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37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3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not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13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nor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NEM UM E NEM OUTRO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94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353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BAEF-59C7-58A7-E12E-6E09E306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E2656-073B-FBED-8480-C029877B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Relação dos operadores de avaliação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2078103-4D1B-F992-C9CB-EAC90E658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77355"/>
              </p:ext>
            </p:extLst>
          </p:nvPr>
        </p:nvGraphicFramePr>
        <p:xfrm>
          <a:off x="1657096" y="2526115"/>
          <a:ext cx="8128000" cy="2006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1048">
                  <a:extLst>
                    <a:ext uri="{9D8B030D-6E8A-4147-A177-3AD203B41FA5}">
                      <a16:colId xmlns:a16="http://schemas.microsoft.com/office/drawing/2014/main" val="3860673365"/>
                    </a:ext>
                  </a:extLst>
                </a:gridCol>
                <a:gridCol w="6346952">
                  <a:extLst>
                    <a:ext uri="{9D8B030D-6E8A-4147-A177-3AD203B41FA5}">
                      <a16:colId xmlns:a16="http://schemas.microsoft.com/office/drawing/2014/main" val="2612543099"/>
                    </a:ext>
                  </a:extLst>
                </a:gridCol>
              </a:tblGrid>
              <a:tr h="523578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regex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EXPRESSÃO REGULAR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37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text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BUSCA TEXTUAL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3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expr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EXPRESSÕES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13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94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502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4B95-F600-D53A-11A1-53F5F1C8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79990-BADE-218D-DF52-8BD509E4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Relação dos operadores de ARRAY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BA3BCDB-FF91-2D01-8715-C57BD75F9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67408"/>
              </p:ext>
            </p:extLst>
          </p:nvPr>
        </p:nvGraphicFramePr>
        <p:xfrm>
          <a:off x="1657096" y="2526115"/>
          <a:ext cx="8128000" cy="2006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1048">
                  <a:extLst>
                    <a:ext uri="{9D8B030D-6E8A-4147-A177-3AD203B41FA5}">
                      <a16:colId xmlns:a16="http://schemas.microsoft.com/office/drawing/2014/main" val="3860673365"/>
                    </a:ext>
                  </a:extLst>
                </a:gridCol>
                <a:gridCol w="6346952">
                  <a:extLst>
                    <a:ext uri="{9D8B030D-6E8A-4147-A177-3AD203B41FA5}">
                      <a16:colId xmlns:a16="http://schemas.microsoft.com/office/drawing/2014/main" val="2612543099"/>
                    </a:ext>
                  </a:extLst>
                </a:gridCol>
              </a:tblGrid>
              <a:tr h="523578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all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Contém todos os valores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37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elemMath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Elemento Correspondente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3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</a:t>
                      </a:r>
                      <a:r>
                        <a:rPr lang="pt-BR" dirty="0" err="1"/>
                        <a:t>size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Quantidade de elementos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13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948745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A9E24636-76EB-609C-AA61-57E1A1A385CF}"/>
              </a:ext>
            </a:extLst>
          </p:cNvPr>
          <p:cNvSpPr txBox="1"/>
          <p:nvPr/>
        </p:nvSpPr>
        <p:spPr>
          <a:xfrm>
            <a:off x="1657096" y="4974336"/>
            <a:ext cx="8721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{ </a:t>
            </a:r>
          </a:p>
          <a:p>
            <a:r>
              <a:rPr lang="pt-BR" dirty="0"/>
              <a:t>   “</a:t>
            </a:r>
            <a:r>
              <a:rPr lang="pt-BR" dirty="0" err="1"/>
              <a:t>tags</a:t>
            </a:r>
            <a:r>
              <a:rPr lang="pt-BR" dirty="0"/>
              <a:t>”: { “$</a:t>
            </a:r>
            <a:r>
              <a:rPr lang="pt-BR" dirty="0" err="1"/>
              <a:t>all</a:t>
            </a:r>
            <a:r>
              <a:rPr lang="pt-BR" dirty="0"/>
              <a:t>”: [“</a:t>
            </a:r>
            <a:r>
              <a:rPr lang="pt-BR" dirty="0" err="1"/>
              <a:t>mongoDB</a:t>
            </a:r>
            <a:r>
              <a:rPr lang="pt-BR" dirty="0"/>
              <a:t>”, “</a:t>
            </a:r>
            <a:r>
              <a:rPr lang="pt-BR" dirty="0" err="1"/>
              <a:t>noSql</a:t>
            </a:r>
            <a:r>
              <a:rPr lang="pt-BR" dirty="0"/>
              <a:t>” ]  </a:t>
            </a:r>
          </a:p>
          <a:p>
            <a:r>
              <a:rPr lang="pt-BR" dirty="0"/>
              <a:t>  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862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08B78-E5C0-7A40-4648-2F39F441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00DB89-F19D-2112-9F38-B358E276E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dirty="0" err="1"/>
              <a:t>MongoDB</a:t>
            </a:r>
            <a:endParaRPr lang="pt-BR" dirty="0"/>
          </a:p>
          <a:p>
            <a:r>
              <a:rPr lang="pt-BR" dirty="0"/>
              <a:t>	{ "Valor": { $</a:t>
            </a:r>
            <a:r>
              <a:rPr lang="pt-BR" dirty="0" err="1"/>
              <a:t>gt</a:t>
            </a:r>
            <a:r>
              <a:rPr lang="pt-BR" dirty="0"/>
              <a:t>": 200}}</a:t>
            </a:r>
          </a:p>
          <a:p>
            <a:endParaRPr lang="pt-BR" dirty="0"/>
          </a:p>
          <a:p>
            <a:r>
              <a:rPr lang="pt-BR" dirty="0"/>
              <a:t>No </a:t>
            </a:r>
            <a:r>
              <a:rPr lang="pt-BR" dirty="0" err="1"/>
              <a:t>Sql</a:t>
            </a:r>
            <a:r>
              <a:rPr lang="pt-BR" dirty="0"/>
              <a:t> (</a:t>
            </a:r>
            <a:r>
              <a:rPr lang="pt-BR" dirty="0" err="1"/>
              <a:t>Equilalente</a:t>
            </a:r>
            <a:r>
              <a:rPr lang="pt-BR" dirty="0"/>
              <a:t>)</a:t>
            </a:r>
          </a:p>
          <a:p>
            <a:r>
              <a:rPr lang="pt-BR" dirty="0"/>
              <a:t>	</a:t>
            </a:r>
            <a:r>
              <a:rPr lang="pt-BR" dirty="0" err="1"/>
              <a:t>Select</a:t>
            </a:r>
            <a:r>
              <a:rPr lang="pt-BR" dirty="0"/>
              <a:t> *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movimentacoes</a:t>
            </a:r>
            <a:r>
              <a:rPr lang="pt-BR" dirty="0"/>
              <a:t> Where valor &gt; 200;</a:t>
            </a:r>
          </a:p>
        </p:txBody>
      </p:sp>
    </p:spTree>
    <p:extLst>
      <p:ext uri="{BB962C8B-B14F-4D97-AF65-F5344CB8AC3E}">
        <p14:creationId xmlns:p14="http://schemas.microsoft.com/office/powerpoint/2010/main" val="3912644677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8568F525725E4DBCDC0CA0217D42BC" ma:contentTypeVersion="3" ma:contentTypeDescription="Crie um novo documento." ma:contentTypeScope="" ma:versionID="cd1e0bade99fd7a6597123d49b038b45">
  <xsd:schema xmlns:xsd="http://www.w3.org/2001/XMLSchema" xmlns:xs="http://www.w3.org/2001/XMLSchema" xmlns:p="http://schemas.microsoft.com/office/2006/metadata/properties" xmlns:ns2="b13c6777-a5a0-4518-be0c-b0a0cdef98da" targetNamespace="http://schemas.microsoft.com/office/2006/metadata/properties" ma:root="true" ma:fieldsID="e2c51236847409bded966b85e67ccb18" ns2:_="">
    <xsd:import namespace="b13c6777-a5a0-4518-be0c-b0a0cdef9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3c6777-a5a0-4518-be0c-b0a0cdef9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51C452-A93E-4A2B-B3EB-3FBFEA1D0B50}"/>
</file>

<file path=customXml/itemProps2.xml><?xml version="1.0" encoding="utf-8"?>
<ds:datastoreItem xmlns:ds="http://schemas.openxmlformats.org/officeDocument/2006/customXml" ds:itemID="{C20CD9EB-2126-4FAD-8D70-9599BA6E7229}"/>
</file>

<file path=customXml/itemProps3.xml><?xml version="1.0" encoding="utf-8"?>
<ds:datastoreItem xmlns:ds="http://schemas.openxmlformats.org/officeDocument/2006/customXml" ds:itemID="{04A08C2E-77B4-425D-8D6B-AC5BBF83DCC8}"/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466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Franklin Gothic Demi Cond</vt:lpstr>
      <vt:lpstr>Franklin Gothic Medium</vt:lpstr>
      <vt:lpstr>Wingdings</vt:lpstr>
      <vt:lpstr>JuxtaposeVTI</vt:lpstr>
      <vt:lpstr>MongoDB</vt:lpstr>
      <vt:lpstr>O que é Nosql</vt:lpstr>
      <vt:lpstr>MongoDB</vt:lpstr>
      <vt:lpstr>Mongodb comprass</vt:lpstr>
      <vt:lpstr>SQL x nosql</vt:lpstr>
      <vt:lpstr>Json</vt:lpstr>
      <vt:lpstr>Estrutura json</vt:lpstr>
      <vt:lpstr>Quem usa mongodb</vt:lpstr>
      <vt:lpstr>Quem usa mongodb</vt:lpstr>
      <vt:lpstr>Relação dos operadores de comparação</vt:lpstr>
      <vt:lpstr>Relação dos operadores Lógicos</vt:lpstr>
      <vt:lpstr>Relação dos operadores de avaliação</vt:lpstr>
      <vt:lpstr>Relação dos operadores de ARRAY</vt:lpstr>
      <vt:lpstr>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CELSO LUIS CALDEIRA</dc:creator>
  <cp:lastModifiedBy>CELSO LUIS CALDEIRA</cp:lastModifiedBy>
  <cp:revision>1</cp:revision>
  <dcterms:created xsi:type="dcterms:W3CDTF">2026-06-13T10:55:41Z</dcterms:created>
  <dcterms:modified xsi:type="dcterms:W3CDTF">2026-06-13T13:17:13Z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0x0101007D8568F525725E4DBCDC0CA0217D42BC</vt:lpwstr>
  </property>
</Properties>
</file>